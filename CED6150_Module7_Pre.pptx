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APPLIED CASE STUDY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Predicting market volatility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6903720" cy="4224528"/>
          </a:xfrm>
          <a:prstGeom prst="roundRect">
            <a:avLst/>
          </a:prstGeom>
          <a:solidFill>
            <a:srgbClr val="11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65960"/>
            <a:ext cx="6263640" cy="1554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Can liquidity and market signals identify high-risk trading days?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160520"/>
            <a:ext cx="5760720" cy="10058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9D8E3"/>
                </a:solidFill>
              </a:defRPr>
            </a:pPr>
            <a:r>
              <a:t>ETF liquidity proxies · VIX · Machine learning</a:t>
            </a:r>
          </a:p>
          <a:p>
            <a:pPr>
              <a:spcAft>
                <a:spcPts val="800"/>
              </a:spcAft>
              <a:defRPr sz="1700" b="0">
                <a:solidFill>
                  <a:srgbClr val="B9D8E3"/>
                </a:solidFill>
              </a:defRPr>
            </a:pPr>
            <a:r>
              <a:t>An individual applied risk analytics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0688" y="1572768"/>
            <a:ext cx="3730752" cy="4224528"/>
          </a:xfrm>
          <a:prstGeom prst="roundRect">
            <a:avLst/>
          </a:prstGeom>
          <a:solidFill>
            <a:srgbClr val="E7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2011680"/>
            <a:ext cx="3108960" cy="32918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6D88"/>
                </a:solidFill>
              </a:defRPr>
            </a:pPr>
            <a:r>
              <a:t>ANALYSIS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606040"/>
            <a:ext cx="457200" cy="457200"/>
          </a:xfrm>
          <a:prstGeom prst="round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642616"/>
            <a:ext cx="36576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70048"/>
            <a:ext cx="25146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1283D"/>
                </a:solidFill>
              </a:defRPr>
            </a:pPr>
            <a:r>
              <a:t>Integrate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3310128"/>
            <a:ext cx="457200" cy="457200"/>
          </a:xfrm>
          <a:prstGeom prst="round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3346704"/>
            <a:ext cx="36576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374136"/>
            <a:ext cx="25146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1283D"/>
                </a:solidFill>
              </a:defRPr>
            </a:pPr>
            <a:r>
              <a:t>Identify stress regimes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014216"/>
            <a:ext cx="457200" cy="457200"/>
          </a:xfrm>
          <a:prstGeom prst="round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4050792"/>
            <a:ext cx="36576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078224"/>
            <a:ext cx="25146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1283D"/>
                </a:solidFill>
              </a:defRPr>
            </a:pPr>
            <a:r>
              <a:t>Predict next-day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4718304"/>
            <a:ext cx="457200" cy="457200"/>
          </a:xfrm>
          <a:prstGeom prst="round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4754880"/>
            <a:ext cx="36576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782312"/>
            <a:ext cx="25146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1283D"/>
                </a:solidFill>
              </a:defRPr>
            </a:pPr>
            <a:r>
              <a:t>Evaluate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248656"/>
            <a:ext cx="110934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DCC9"/>
                </a:solidFill>
                <a:latin typeface="Aptos"/>
              </a:defRPr>
            </a:pPr>
            <a:r>
              <a:t>YANG</a:t>
            </a:r>
            <a:r>
              <a:rPr lang="en-US"/>
              <a:t> </a:t>
            </a:r>
            <a:r>
              <a:rPr lang="en-US" altLang="zh-CN"/>
              <a:t>LIU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RESEARCH QUESTION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Why an early-warning signal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511296" cy="2130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4008" cy="2130552"/>
          </a:xfrm>
          <a:prstGeom prst="rect">
            <a:avLst/>
          </a:prstGeom>
          <a:solidFill>
            <a:srgbClr val="17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55648"/>
            <a:ext cx="3145536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6D88"/>
                </a:solidFill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31720"/>
            <a:ext cx="3145536" cy="12161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Large next-day price moves can affect a portfolio before analysts can react.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72768"/>
            <a:ext cx="3511296" cy="2130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72768"/>
            <a:ext cx="64008" cy="2130552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755648"/>
            <a:ext cx="3145536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A6B5"/>
                </a:solidFill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31720"/>
            <a:ext cx="3145536" cy="12161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High risk = |next-day SPY return| above 1.5%.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572768"/>
            <a:ext cx="3502152" cy="2130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572768"/>
            <a:ext cx="64008" cy="2130552"/>
          </a:xfrm>
          <a:prstGeom prst="rect">
            <a:avLst/>
          </a:prstGeom>
          <a:solidFill>
            <a:srgbClr val="D7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55648"/>
            <a:ext cx="3136392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D77D36"/>
                </a:solidFill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31720"/>
            <a:ext cx="3136392" cy="12161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Send a monitoring alert rather than trigger an automatic trade.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050791"/>
            <a:ext cx="10853928" cy="1517904"/>
          </a:xfrm>
          <a:prstGeom prst="roundRect">
            <a:avLst/>
          </a:prstGeom>
          <a:solidFill>
            <a:srgbClr val="11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4325112"/>
            <a:ext cx="1001268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CD5DE"/>
                </a:solidFill>
              </a:defRPr>
            </a:pPr>
            <a:r>
              <a:t>ILLUSTRATIVE COST 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791456"/>
            <a:ext cx="9921240" cy="5029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Missed high-risk day = 5 units     •     False alarm = 1 unit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DATA &amp; METHOD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Two information streams, one modeling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4754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554480"/>
            <a:ext cx="47548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4114800" cy="5029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6D88"/>
                </a:solidFill>
              </a:defRPr>
            </a:pPr>
            <a:r>
              <a:t>01   Market trading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4160520" cy="16459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SPY + QQQ daily OHLCV</a:t>
            </a:r>
          </a:p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Amihud illiquidity</a:t>
            </a:r>
          </a:p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Corwin–Schultz spread proxy</a:t>
            </a:r>
          </a:p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Rolling return 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4114800" cy="5029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6D88"/>
                </a:solidFill>
              </a:defRPr>
            </a:pPr>
            <a:r>
              <a:t>02   Market-risk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23744"/>
            <a:ext cx="4160520" cy="15087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VIX index levels and changes</a:t>
            </a:r>
          </a:p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Market-wide forward volatility expectations</a:t>
            </a:r>
          </a:p>
          <a:p>
            <a:pPr>
              <a:spcAft>
                <a:spcPts val="800"/>
              </a:spcAft>
              <a:defRPr sz="1700" b="0">
                <a:solidFill>
                  <a:srgbClr val="193449"/>
                </a:solidFill>
              </a:defRPr>
            </a:pPr>
            <a:r>
              <a:t>Joined by trading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96712" y="2743200"/>
            <a:ext cx="822960" cy="438912"/>
          </a:xfrm>
          <a:prstGeom prst="round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2798064"/>
            <a:ext cx="48463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5166360"/>
            <a:ext cx="8321040" cy="667512"/>
          </a:xfrm>
          <a:prstGeom prst="roundRect">
            <a:avLst/>
          </a:prstGeom>
          <a:solidFill>
            <a:srgbClr val="E7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5416" y="5285232"/>
            <a:ext cx="7955279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283D"/>
                </a:solidFill>
              </a:defRPr>
            </a:pPr>
            <a:r>
              <a:t>Train: 2018–2024   →   Out-of-time test: 2025   |   chronological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UNSUPERVISED INSIGHTS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Three interpretable market-stress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758952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uster_regim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26653"/>
            <a:ext cx="7315200" cy="252706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67344" y="1655064"/>
            <a:ext cx="2880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810512"/>
            <a:ext cx="260604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340864"/>
            <a:ext cx="260604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Lower-stress frequency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67344" y="2907792"/>
            <a:ext cx="2880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063240"/>
            <a:ext cx="260604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27.3%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593592"/>
            <a:ext cx="260604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Moderate-stress frequency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4160520"/>
            <a:ext cx="288036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4315968"/>
            <a:ext cx="260604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77D36"/>
                </a:solidFill>
              </a:defRPr>
            </a:pPr>
            <a:r>
              <a:t>72.0%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846320"/>
            <a:ext cx="260604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Higher-stress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5532120"/>
            <a:ext cx="2743200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87083"/>
                </a:solidFill>
              </a:defRPr>
            </a:pPr>
            <a:r>
              <a:t>Training cluster proportions; not calibrated forecasts.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LIQUIDITY DYNAMICS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Trading conditions change across market episodes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83210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quidity_over_ti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504" y="1645920"/>
            <a:ext cx="6825342" cy="4343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71432" y="1554480"/>
            <a:ext cx="2331720" cy="4526280"/>
          </a:xfrm>
          <a:prstGeom prst="roundRect">
            <a:avLst/>
          </a:prstGeom>
          <a:solidFill>
            <a:srgbClr val="E7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911095"/>
            <a:ext cx="1920240" cy="9601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76D88"/>
                </a:solidFill>
              </a:defRPr>
            </a:pPr>
            <a:r>
              <a:t>QQQ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560320"/>
            <a:ext cx="1828800" cy="102412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Often higher Amihud illiquidity proxy than SPY.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703320"/>
            <a:ext cx="182880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77D36"/>
                </a:solidFill>
              </a:defRPr>
            </a:pPr>
            <a: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261104"/>
            <a:ext cx="1828800" cy="13258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Estimated spreads rose sharply during early-pandemic stress.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MODEL VALIDATION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GLM slightly outperforms the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63624"/>
            <a:ext cx="6903720" cy="4498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2852"/>
            <a:ext cx="6583680" cy="376210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18120" y="1636776"/>
            <a:ext cx="342900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792224"/>
            <a:ext cx="315468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0.772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322576"/>
            <a:ext cx="315468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Logistic GLM mean CV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944368"/>
            <a:ext cx="342900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3099816"/>
            <a:ext cx="315468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0.758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630168"/>
            <a:ext cx="315468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Random forest mean CV 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352544"/>
            <a:ext cx="3429000" cy="1344168"/>
          </a:xfrm>
          <a:prstGeom prst="roundRect">
            <a:avLst/>
          </a:prstGeom>
          <a:solidFill>
            <a:srgbClr val="E7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517136"/>
            <a:ext cx="2926080" cy="38404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76D88"/>
                </a:solidFill>
              </a:defRPr>
            </a:pPr>
            <a:r>
              <a:t>TUNING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56048"/>
            <a:ext cx="2926080" cy="58521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1283D"/>
                </a:solidFill>
              </a:defRPr>
            </a:pPr>
            <a:r>
              <a:t>GLM C = 0.03</a:t>
            </a:r>
          </a:p>
          <a:p>
            <a:pPr>
              <a:spcAft>
                <a:spcPts val="800"/>
              </a:spcAft>
              <a:defRPr sz="1400" b="0">
                <a:solidFill>
                  <a:srgbClr val="11283D"/>
                </a:solidFill>
              </a:defRPr>
            </a:pPr>
            <a:r>
              <a:t>Tuned CV AUC = 0.778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"/>
            <a:ext cx="100584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DECISION ALIGNMENT   •   CED6150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6400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1283D"/>
                </a:solidFill>
              </a:defRPr>
            </a:pPr>
            <a:r>
              <a:t>A good ranking model still misses many risky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81912"/>
            <a:ext cx="7333488" cy="44714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st_predic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03093"/>
            <a:ext cx="7086600" cy="2755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0456" y="1636776"/>
            <a:ext cx="306324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1624" y="1792224"/>
            <a:ext cx="278892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0.804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322576"/>
            <a:ext cx="278892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2025 test ROC-AUC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2898648"/>
            <a:ext cx="306324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3054096"/>
            <a:ext cx="2788920" cy="4754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6D88"/>
                </a:solidFill>
              </a:defRPr>
            </a:pPr>
            <a:r>
              <a:t>0.26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584448"/>
            <a:ext cx="278892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87083"/>
                </a:solidFill>
              </a:defRPr>
            </a:pPr>
            <a:r>
              <a:t>Alert probability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4178808"/>
            <a:ext cx="3063240" cy="1554480"/>
          </a:xfrm>
          <a:prstGeom prst="roundRect">
            <a:avLst/>
          </a:prstGeom>
          <a:solidFill>
            <a:srgbClr val="E7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4389120"/>
            <a:ext cx="265176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D77D36"/>
                </a:solidFill>
              </a:defRPr>
            </a:pPr>
            <a:r>
              <a:t>9 of 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901184"/>
            <a:ext cx="2560320" cy="6217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87083"/>
                </a:solidFill>
              </a:defRPr>
            </a:pPr>
            <a:r>
              <a:t>Actual high-risk days detected (27% recall)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20040"/>
            <a:ext cx="73152" cy="201168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266944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64008" cy="1783080"/>
          </a:xfrm>
          <a:prstGeom prst="rect">
            <a:avLst/>
          </a:prstGeom>
          <a:solidFill>
            <a:srgbClr val="17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55648"/>
            <a:ext cx="4901183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6D88"/>
                </a:solidFill>
              </a:defRPr>
            </a:pPr>
            <a:r>
              <a:t>Finding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31720"/>
            <a:ext cx="4901183" cy="8686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Use the GLM as an additional monitoring signal—not an automatic trading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572768"/>
            <a:ext cx="5413248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572768"/>
            <a:ext cx="64008" cy="178308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755648"/>
            <a:ext cx="5047488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9A6B5"/>
                </a:solidFill>
              </a:defRPr>
            </a:pPr>
            <a:r>
              <a:t>Finding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331720"/>
            <a:ext cx="5047488" cy="8686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Liquidity feature removal did not reduce CV AUC: 0.772 → 0.777.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38728"/>
            <a:ext cx="5266944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538728"/>
            <a:ext cx="64008" cy="1783080"/>
          </a:xfrm>
          <a:prstGeom prst="rect">
            <a:avLst/>
          </a:prstGeom>
          <a:solidFill>
            <a:srgbClr val="D7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721608"/>
            <a:ext cx="4901183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D77D36"/>
                </a:solidFill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97680"/>
            <a:ext cx="4901183" cy="8686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Daily spread estimates are proxies; model recall is low and market regimes can shift.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3538728"/>
            <a:ext cx="5413248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3538728"/>
            <a:ext cx="64008" cy="1783080"/>
          </a:xfrm>
          <a:prstGeom prst="rect">
            <a:avLst/>
          </a:prstGeom>
          <a:solidFill>
            <a:srgbClr val="17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721608"/>
            <a:ext cx="5047488" cy="43891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6D88"/>
                </a:solidFill>
              </a:defRPr>
            </a:pPr>
            <a: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297680"/>
            <a:ext cx="5047488" cy="8686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87083"/>
                </a:solidFill>
              </a:defRPr>
            </a:pPr>
            <a:r>
              <a:t>Test new periods, review costs and thresholds, and add richer liquidity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320040"/>
            <a:ext cx="141668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>
                <a:solidFill>
                  <a:srgbClr val="37DCC9"/>
                </a:solidFill>
                <a:latin typeface="Aptos"/>
              </a:defRPr>
            </a:pPr>
            <a:r>
              <a:rPr sz="1000" b="1">
                <a:solidFill>
                  <a:srgbClr val="176D88"/>
                </a:solidFill>
                <a:latin typeface="+mn-lt"/>
              </a:rPr>
              <a:t>C</a:t>
            </a:r>
            <a:r>
              <a:rPr lang="en-US" sz="1000" b="1">
                <a:solidFill>
                  <a:srgbClr val="176D88"/>
                </a:solidFill>
                <a:latin typeface="+mn-lt"/>
              </a:rPr>
              <a:t>ONCLUSION</a:t>
            </a:r>
            <a:endParaRPr lang="en-US" sz="1000" b="1">
              <a:solidFill>
                <a:srgbClr val="176D88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9D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2011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87083"/>
                </a:solidFill>
              </a:defRPr>
            </a:pPr>
            <a:r>
              <a:t>SPY · QQQ · VIX   |   2018–2025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411480" cy="23774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76D88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8"/>
          <p:cNvSpPr/>
          <p:nvPr/>
        </p:nvSpPr>
        <p:spPr>
          <a:xfrm>
            <a:off x="2555240" y="1147318"/>
            <a:ext cx="6903720" cy="4224528"/>
          </a:xfrm>
          <a:prstGeom prst="roundRect">
            <a:avLst/>
          </a:prstGeom>
          <a:solidFill>
            <a:srgbClr val="11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文本框 24"/>
          <p:cNvSpPr txBox="1"/>
          <p:nvPr/>
        </p:nvSpPr>
        <p:spPr>
          <a:xfrm>
            <a:off x="4807585" y="2895600"/>
            <a:ext cx="2399030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Thank you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！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2554</Words>
  <Application>WPS 演示</Application>
  <PresentationFormat>On-screen Show (4:3)</PresentationFormat>
  <Paragraphs>189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Victoria.</cp:lastModifiedBy>
  <cp:revision>2</cp:revision>
  <dcterms:created xsi:type="dcterms:W3CDTF">2013-01-27T09:14:00Z</dcterms:created>
  <dcterms:modified xsi:type="dcterms:W3CDTF">2026-10-26T02:13:57Z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1BD72CAA2A934A85929D4B88BE009F44_12</vt:lpwstr>
  </property>
</Properties>
</file>